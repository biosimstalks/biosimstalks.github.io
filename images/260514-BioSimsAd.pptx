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77" r:id="rId2"/>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9000"/>
    <a:srgbClr val="4C42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62"/>
    <p:restoredTop sz="94671"/>
  </p:normalViewPr>
  <p:slideViewPr>
    <p:cSldViewPr snapToGrid="0">
      <p:cViewPr varScale="1">
        <p:scale>
          <a:sx n="104" d="100"/>
          <a:sy n="104" d="100"/>
        </p:scale>
        <p:origin x="4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5C0F-5D66-A44F-BA52-2D3A2B29A490}" type="datetimeFigureOut">
              <a:rPr lang="en-JP" smtClean="0"/>
              <a:t>05/15/2026</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D8F1D-47C0-424C-AA42-855D894D403E}" type="slidenum">
              <a:rPr lang="en-JP" smtClean="0"/>
              <a:t>‹#›</a:t>
            </a:fld>
            <a:endParaRPr lang="en-JP"/>
          </a:p>
        </p:txBody>
      </p:sp>
    </p:spTree>
    <p:extLst>
      <p:ext uri="{BB962C8B-B14F-4D97-AF65-F5344CB8AC3E}">
        <p14:creationId xmlns:p14="http://schemas.microsoft.com/office/powerpoint/2010/main" val="1331182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a:t>https://www.qrcode-monkey.com/#about</a:t>
            </a:r>
            <a:endParaRPr kumimoji="1" lang="ja-JP" altLang="en-US"/>
          </a:p>
        </p:txBody>
      </p:sp>
      <p:sp>
        <p:nvSpPr>
          <p:cNvPr id="4" name="Slide Number Placeholder 3"/>
          <p:cNvSpPr>
            <a:spLocks noGrp="1"/>
          </p:cNvSpPr>
          <p:nvPr>
            <p:ph type="sldNum" sz="quarter" idx="5"/>
          </p:nvPr>
        </p:nvSpPr>
        <p:spPr/>
        <p:txBody>
          <a:bodyPr/>
          <a:lstStyle/>
          <a:p>
            <a:fld id="{7F7D8F1D-47C0-424C-AA42-855D894D403E}" type="slidenum">
              <a:rPr lang="en-JP" smtClean="0"/>
              <a:t>1</a:t>
            </a:fld>
            <a:endParaRPr lang="en-JP"/>
          </a:p>
        </p:txBody>
      </p:sp>
    </p:spTree>
    <p:extLst>
      <p:ext uri="{BB962C8B-B14F-4D97-AF65-F5344CB8AC3E}">
        <p14:creationId xmlns:p14="http://schemas.microsoft.com/office/powerpoint/2010/main" val="488116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AC56B-4919-CC1E-FBC8-F8EAEFEEC2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17480437-056D-6CF9-043A-C5A7960BB8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77C7C65B-5D06-9448-1607-89DA5A3B8508}"/>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C55FFABB-A149-AD3A-2192-88B1EA56800E}"/>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E3DEE84-C9D0-E2E5-41AC-67187E3054DE}"/>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96631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5D451-28C9-BC15-471B-572D87E519AB}"/>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41CB9D99-273E-61B7-4BFB-7E95096E4B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0433C5F5-EC2E-9E85-7D67-08A3977D300F}"/>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6312645B-D5D6-3BC6-C97E-FD074EC35FC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AEECD9B-E076-F9FB-3C4D-1E560E09EB5E}"/>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406615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981B-5FED-1685-D2B0-F01642E465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31A023D8-79CB-2522-0728-D9DF140B28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FDBBF5-27E5-FDD0-DF76-87283368F30A}"/>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B982D266-A297-0885-B7B7-BE1B0453165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2D50B5B1-0EF4-3378-D54A-9412D114C335}"/>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3316902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78A44-F598-AE1E-6AAE-91275DB08D0C}"/>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261F7924-3553-240F-F42E-049A4C2FCF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6C0FA18C-02A7-982D-6F50-248CA0DA0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13763EB3-2F12-87B8-7BCC-9CCBF0498D89}"/>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6" name="Footer Placeholder 5">
            <a:extLst>
              <a:ext uri="{FF2B5EF4-FFF2-40B4-BE49-F238E27FC236}">
                <a16:creationId xmlns:a16="http://schemas.microsoft.com/office/drawing/2014/main" id="{C6E3D1C3-A04C-D96B-1CA7-AC7D25F79C67}"/>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D152E31-D234-740B-0D8B-67407B51B647}"/>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194426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9DCC-5975-D40B-008C-E09205BE36B0}"/>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0D91687E-C0B0-229F-DF4D-6D66D454AD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E891E-CAFF-A4F7-B5E5-7428A206CC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65289CEB-FDF3-1B1E-3B10-EF1D72AD0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A1E240-1BBB-B796-65AD-42D6F65BF9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720E5B71-371F-E825-E9EA-95BBD9A84800}"/>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8" name="Footer Placeholder 7">
            <a:extLst>
              <a:ext uri="{FF2B5EF4-FFF2-40B4-BE49-F238E27FC236}">
                <a16:creationId xmlns:a16="http://schemas.microsoft.com/office/drawing/2014/main" id="{96B8A093-DDE5-8D5F-04E8-33E45E732DB0}"/>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0115978A-1A3C-9B77-6C9E-0775390954AD}"/>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337256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0B05-57AC-6ECF-4764-7C5F4AA3BE2D}"/>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4601E9E7-28DB-42E1-BC4F-294AAE6A7BE8}"/>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4" name="Footer Placeholder 3">
            <a:extLst>
              <a:ext uri="{FF2B5EF4-FFF2-40B4-BE49-F238E27FC236}">
                <a16:creationId xmlns:a16="http://schemas.microsoft.com/office/drawing/2014/main" id="{1ED79500-227A-C1AE-CD4F-0C1B1B8DA05A}"/>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4E48DE86-9871-3920-3012-F933393CD938}"/>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3310738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A899D-A036-F8A9-C618-49C733BDBD5B}"/>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3" name="Footer Placeholder 2">
            <a:extLst>
              <a:ext uri="{FF2B5EF4-FFF2-40B4-BE49-F238E27FC236}">
                <a16:creationId xmlns:a16="http://schemas.microsoft.com/office/drawing/2014/main" id="{C4679057-92B9-ADC5-8F27-78EA653D9A83}"/>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3B8DD0ED-E619-B894-C6FC-BE5637464A06}"/>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4022707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8493B-3C8E-65FF-BEC2-8BD159DF53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21828829-3D28-9537-DB1D-68EDFE20C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F3E3D3C7-FD3B-2BD7-AC53-A03B185EF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2DCF1-4FC0-9F37-A1CA-0064B68E6AC5}"/>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6" name="Footer Placeholder 5">
            <a:extLst>
              <a:ext uri="{FF2B5EF4-FFF2-40B4-BE49-F238E27FC236}">
                <a16:creationId xmlns:a16="http://schemas.microsoft.com/office/drawing/2014/main" id="{5CD70821-4B9D-596A-1E35-034563060EFA}"/>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871F76C-DC50-A7B7-BA50-7B66CE12FE9F}"/>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3997144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2BE3B-C949-6848-3B65-1EB6C8142B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9A5DA8AA-D936-035A-C5F2-98CE8BADF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ADD4621B-DF90-43DB-32B1-47F184ED7D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4EF58-CDFC-91A1-64D0-EAEF2296FF04}"/>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6" name="Footer Placeholder 5">
            <a:extLst>
              <a:ext uri="{FF2B5EF4-FFF2-40B4-BE49-F238E27FC236}">
                <a16:creationId xmlns:a16="http://schemas.microsoft.com/office/drawing/2014/main" id="{D280DFC2-F76D-F7E1-B4A4-9D448E4D1EEA}"/>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484A37DC-B175-5983-7E60-B4AC895D3562}"/>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3516535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87E8-9276-9E05-CEA9-4CACADDF297A}"/>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A230FCBD-5563-6766-7D99-938E1C81E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C50CD7EA-C1BA-5EE2-036C-A29978C595AF}"/>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43A0639E-4310-FA38-D72B-D45F89598DE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FEF563B-7E2C-8994-2DCE-23A2E18AA65B}"/>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685510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FAACD8-4F2C-2017-2A43-5A270A078C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819E2843-3AE8-AEDD-670E-D7C6C6654A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534D350-49B9-FB18-7EF3-141366E91013}"/>
              </a:ext>
            </a:extLst>
          </p:cNvPr>
          <p:cNvSpPr>
            <a:spLocks noGrp="1"/>
          </p:cNvSpPr>
          <p:nvPr>
            <p:ph type="dt" sz="half" idx="10"/>
          </p:nvPr>
        </p:nvSpPr>
        <p:spPr/>
        <p:txBody>
          <a:body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33884ADA-5489-3E7C-4BD8-327F0EC26428}"/>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2AC020A-294E-AD13-CD3E-8A97CBFF9CEC}"/>
              </a:ext>
            </a:extLst>
          </p:cNvPr>
          <p:cNvSpPr>
            <a:spLocks noGrp="1"/>
          </p:cNvSpPr>
          <p:nvPr>
            <p:ph type="sldNum" sz="quarter" idx="12"/>
          </p:nvPr>
        </p:nvSpPr>
        <p:spPr/>
        <p:txBody>
          <a:bodyPr/>
          <a:lstStyle/>
          <a:p>
            <a:fld id="{B200E5BA-73CE-BF4A-8CE3-EE8ADD5F6010}" type="slidenum">
              <a:rPr lang="en-JP" smtClean="0"/>
              <a:t>‹#›</a:t>
            </a:fld>
            <a:endParaRPr lang="en-JP"/>
          </a:p>
        </p:txBody>
      </p:sp>
    </p:spTree>
    <p:extLst>
      <p:ext uri="{BB962C8B-B14F-4D97-AF65-F5344CB8AC3E}">
        <p14:creationId xmlns:p14="http://schemas.microsoft.com/office/powerpoint/2010/main" val="189554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DD899-0EE1-E91E-7220-F0ED3CEE1D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096D796C-2E17-D25B-F78C-A336AB9703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B2B9B64-AD76-5853-2D06-9AC6924727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C305B1-BCA0-004C-B3AD-256EC7A8945C}" type="datetimeFigureOut">
              <a:rPr lang="en-JP" smtClean="0"/>
              <a:t>05/15/2026</a:t>
            </a:fld>
            <a:endParaRPr lang="en-JP"/>
          </a:p>
        </p:txBody>
      </p:sp>
      <p:sp>
        <p:nvSpPr>
          <p:cNvPr id="5" name="Footer Placeholder 4">
            <a:extLst>
              <a:ext uri="{FF2B5EF4-FFF2-40B4-BE49-F238E27FC236}">
                <a16:creationId xmlns:a16="http://schemas.microsoft.com/office/drawing/2014/main" id="{F217108A-D77E-D2A6-777F-E59FE28FFB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JP"/>
          </a:p>
        </p:txBody>
      </p:sp>
      <p:sp>
        <p:nvSpPr>
          <p:cNvPr id="6" name="Slide Number Placeholder 5">
            <a:extLst>
              <a:ext uri="{FF2B5EF4-FFF2-40B4-BE49-F238E27FC236}">
                <a16:creationId xmlns:a16="http://schemas.microsoft.com/office/drawing/2014/main" id="{393D9D74-6A6E-0083-13EE-C805B290F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00E5BA-73CE-BF4A-8CE3-EE8ADD5F6010}" type="slidenum">
              <a:rPr lang="en-JP" smtClean="0"/>
              <a:t>‹#›</a:t>
            </a:fld>
            <a:endParaRPr lang="en-JP"/>
          </a:p>
        </p:txBody>
      </p:sp>
    </p:spTree>
    <p:extLst>
      <p:ext uri="{BB962C8B-B14F-4D97-AF65-F5344CB8AC3E}">
        <p14:creationId xmlns:p14="http://schemas.microsoft.com/office/powerpoint/2010/main" val="204820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ndhyatiwari@protein.osaka-u.ac.j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mailto:shinobu.ai.prime@osaka-u.ac.j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E5971-F4DD-2685-9C3E-75287626502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DBB9B114-DED0-A6FF-8E6F-755A5B36C6FE}"/>
              </a:ext>
            </a:extLst>
          </p:cNvPr>
          <p:cNvGrpSpPr/>
          <p:nvPr/>
        </p:nvGrpSpPr>
        <p:grpSpPr>
          <a:xfrm>
            <a:off x="2438400" y="-45575"/>
            <a:ext cx="6284179" cy="6903575"/>
            <a:chOff x="2438400" y="-45575"/>
            <a:chExt cx="6284179" cy="6903575"/>
          </a:xfrm>
        </p:grpSpPr>
        <p:grpSp>
          <p:nvGrpSpPr>
            <p:cNvPr id="3" name="Group 2">
              <a:extLst>
                <a:ext uri="{FF2B5EF4-FFF2-40B4-BE49-F238E27FC236}">
                  <a16:creationId xmlns:a16="http://schemas.microsoft.com/office/drawing/2014/main" id="{FE717B52-D62F-27D1-1157-69229E9E820E}"/>
                </a:ext>
              </a:extLst>
            </p:cNvPr>
            <p:cNvGrpSpPr/>
            <p:nvPr/>
          </p:nvGrpSpPr>
          <p:grpSpPr>
            <a:xfrm>
              <a:off x="2438400" y="-45575"/>
              <a:ext cx="6284179" cy="6903575"/>
              <a:chOff x="2438400" y="185915"/>
              <a:chExt cx="6284179" cy="6903575"/>
            </a:xfrm>
          </p:grpSpPr>
          <p:grpSp>
            <p:nvGrpSpPr>
              <p:cNvPr id="31" name="Group 30">
                <a:extLst>
                  <a:ext uri="{FF2B5EF4-FFF2-40B4-BE49-F238E27FC236}">
                    <a16:creationId xmlns:a16="http://schemas.microsoft.com/office/drawing/2014/main" id="{C18D272B-61B0-AC2C-9F24-4C81E7698517}"/>
                  </a:ext>
                </a:extLst>
              </p:cNvPr>
              <p:cNvGrpSpPr/>
              <p:nvPr/>
            </p:nvGrpSpPr>
            <p:grpSpPr>
              <a:xfrm>
                <a:off x="2438400" y="185915"/>
                <a:ext cx="6284179" cy="6903575"/>
                <a:chOff x="2438400" y="185915"/>
                <a:chExt cx="6284179" cy="6903575"/>
              </a:xfrm>
            </p:grpSpPr>
            <p:grpSp>
              <p:nvGrpSpPr>
                <p:cNvPr id="5" name="Group 4">
                  <a:extLst>
                    <a:ext uri="{FF2B5EF4-FFF2-40B4-BE49-F238E27FC236}">
                      <a16:creationId xmlns:a16="http://schemas.microsoft.com/office/drawing/2014/main" id="{990971FC-1EDA-6C70-E005-7CF019C7F646}"/>
                    </a:ext>
                  </a:extLst>
                </p:cNvPr>
                <p:cNvGrpSpPr/>
                <p:nvPr/>
              </p:nvGrpSpPr>
              <p:grpSpPr>
                <a:xfrm>
                  <a:off x="2438400" y="185915"/>
                  <a:ext cx="6284179" cy="6903575"/>
                  <a:chOff x="3772010" y="277461"/>
                  <a:chExt cx="6284179" cy="6903575"/>
                </a:xfrm>
              </p:grpSpPr>
              <p:grpSp>
                <p:nvGrpSpPr>
                  <p:cNvPr id="10" name="Group 9">
                    <a:extLst>
                      <a:ext uri="{FF2B5EF4-FFF2-40B4-BE49-F238E27FC236}">
                        <a16:creationId xmlns:a16="http://schemas.microsoft.com/office/drawing/2014/main" id="{0FB3AE24-6FF9-3037-8CA9-256477247B86}"/>
                      </a:ext>
                    </a:extLst>
                  </p:cNvPr>
                  <p:cNvGrpSpPr/>
                  <p:nvPr/>
                </p:nvGrpSpPr>
                <p:grpSpPr>
                  <a:xfrm>
                    <a:off x="3772010" y="277462"/>
                    <a:ext cx="6284179" cy="6903574"/>
                    <a:chOff x="3878888" y="277462"/>
                    <a:chExt cx="6284179" cy="6903574"/>
                  </a:xfrm>
                </p:grpSpPr>
                <p:grpSp>
                  <p:nvGrpSpPr>
                    <p:cNvPr id="12" name="Group 11">
                      <a:extLst>
                        <a:ext uri="{FF2B5EF4-FFF2-40B4-BE49-F238E27FC236}">
                          <a16:creationId xmlns:a16="http://schemas.microsoft.com/office/drawing/2014/main" id="{78D226C1-58FC-DCEB-4258-71770E1C023B}"/>
                        </a:ext>
                      </a:extLst>
                    </p:cNvPr>
                    <p:cNvGrpSpPr/>
                    <p:nvPr/>
                  </p:nvGrpSpPr>
                  <p:grpSpPr>
                    <a:xfrm>
                      <a:off x="3878888" y="277462"/>
                      <a:ext cx="6284179" cy="6903574"/>
                      <a:chOff x="3952462" y="1048236"/>
                      <a:chExt cx="4067970" cy="5903368"/>
                    </a:xfrm>
                  </p:grpSpPr>
                  <p:sp>
                    <p:nvSpPr>
                      <p:cNvPr id="14" name="Rounded Rectangle 13">
                        <a:extLst>
                          <a:ext uri="{FF2B5EF4-FFF2-40B4-BE49-F238E27FC236}">
                            <a16:creationId xmlns:a16="http://schemas.microsoft.com/office/drawing/2014/main" id="{086C8CC3-B776-7D89-4C69-48D2DF94EE4B}"/>
                          </a:ext>
                        </a:extLst>
                      </p:cNvPr>
                      <p:cNvSpPr/>
                      <p:nvPr/>
                    </p:nvSpPr>
                    <p:spPr>
                      <a:xfrm>
                        <a:off x="3952462" y="1048236"/>
                        <a:ext cx="4067970" cy="5903368"/>
                      </a:xfrm>
                      <a:prstGeom prst="roundRect">
                        <a:avLst>
                          <a:gd name="adj" fmla="val 0"/>
                        </a:avLst>
                      </a:prstGeom>
                      <a:gradFill>
                        <a:gsLst>
                          <a:gs pos="0">
                            <a:schemeClr val="accent6">
                              <a:lumMod val="110000"/>
                              <a:satMod val="105000"/>
                              <a:tint val="67000"/>
                            </a:schemeClr>
                          </a:gs>
                          <a:gs pos="50000">
                            <a:schemeClr val="bg1"/>
                          </a:gs>
                          <a:gs pos="100000">
                            <a:schemeClr val="accent4">
                              <a:lumMod val="40000"/>
                              <a:lumOff val="60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just"/>
                        <a:endParaRPr lang="en-GB" sz="1600" b="1" dirty="0"/>
                      </a:p>
                      <a:p>
                        <a:pPr algn="ctr"/>
                        <a:endParaRPr lang="en-JP" dirty="0"/>
                      </a:p>
                    </p:txBody>
                  </p:sp>
                  <p:sp>
                    <p:nvSpPr>
                      <p:cNvPr id="15" name="TextBox 14">
                        <a:extLst>
                          <a:ext uri="{FF2B5EF4-FFF2-40B4-BE49-F238E27FC236}">
                            <a16:creationId xmlns:a16="http://schemas.microsoft.com/office/drawing/2014/main" id="{68C34FDD-899A-BB30-559E-B5F5796040B1}"/>
                          </a:ext>
                        </a:extLst>
                      </p:cNvPr>
                      <p:cNvSpPr txBox="1"/>
                      <p:nvPr/>
                    </p:nvSpPr>
                    <p:spPr>
                      <a:xfrm>
                        <a:off x="5628547" y="1096817"/>
                        <a:ext cx="2367692" cy="1184334"/>
                      </a:xfrm>
                      <a:prstGeom prst="rect">
                        <a:avLst/>
                      </a:prstGeom>
                      <a:noFill/>
                    </p:spPr>
                    <p:txBody>
                      <a:bodyPr wrap="square" rtlCol="0">
                        <a:spAutoFit/>
                      </a:bodyPr>
                      <a:lstStyle/>
                      <a:p>
                        <a:pPr algn="ctr"/>
                        <a:r>
                          <a:rPr lang="en-JP" sz="1400" b="1" dirty="0">
                            <a:latin typeface="Dreaming Outloud Pro" panose="03050502040302030504" pitchFamily="66" charset="77"/>
                            <a:cs typeface="Dreaming Outloud Pro" panose="03050502040302030504" pitchFamily="66" charset="77"/>
                          </a:rPr>
                          <a:t>BioSim Talk </a:t>
                        </a:r>
                        <a:r>
                          <a:rPr lang="en-JP" sz="1400" b="1">
                            <a:latin typeface="Dreaming Outloud Pro" panose="03050502040302030504" pitchFamily="66" charset="77"/>
                            <a:cs typeface="Dreaming Outloud Pro" panose="03050502040302030504" pitchFamily="66" charset="77"/>
                          </a:rPr>
                          <a:t>#</a:t>
                        </a:r>
                        <a:r>
                          <a:rPr lang="en-US" sz="1400" b="1" dirty="0">
                            <a:latin typeface="Dreaming Outloud Pro" panose="03050502040302030504" pitchFamily="66" charset="77"/>
                            <a:cs typeface="Dreaming Outloud Pro" panose="03050502040302030504" pitchFamily="66" charset="77"/>
                          </a:rPr>
                          <a:t>1</a:t>
                        </a:r>
                        <a:endParaRPr lang="en-JP" sz="1400" b="1" dirty="0">
                          <a:latin typeface="Dreaming Outloud Pro" panose="03050502040302030504" pitchFamily="66" charset="77"/>
                          <a:cs typeface="Dreaming Outloud Pro" panose="03050502040302030504" pitchFamily="66" charset="77"/>
                        </a:endParaRPr>
                      </a:p>
                      <a:p>
                        <a:pPr algn="ctr"/>
                        <a:r>
                          <a:rPr lang="en-US" sz="1400" b="1" dirty="0">
                            <a:latin typeface="Dreaming Outloud Pro" panose="03050502040302030504" pitchFamily="66" charset="77"/>
                            <a:cs typeface="Dreaming Outloud Pro" panose="03050502040302030504" pitchFamily="66" charset="77"/>
                          </a:rPr>
                          <a:t>22</a:t>
                        </a:r>
                        <a:r>
                          <a:rPr lang="en-JP" sz="1400" b="1" dirty="0">
                            <a:latin typeface="Dreaming Outloud Pro" panose="03050502040302030504" pitchFamily="66" charset="77"/>
                            <a:cs typeface="Dreaming Outloud Pro" panose="03050502040302030504" pitchFamily="66" charset="77"/>
                          </a:rPr>
                          <a:t>th </a:t>
                        </a:r>
                        <a:r>
                          <a:rPr lang="en-US" sz="1400" b="1" dirty="0">
                            <a:latin typeface="Dreaming Outloud Pro" panose="03050502040302030504" pitchFamily="66" charset="77"/>
                            <a:cs typeface="Dreaming Outloud Pro" panose="03050502040302030504" pitchFamily="66" charset="77"/>
                          </a:rPr>
                          <a:t>May</a:t>
                        </a:r>
                        <a:r>
                          <a:rPr lang="en-JP" sz="1400" b="1" dirty="0">
                            <a:latin typeface="Dreaming Outloud Pro" panose="03050502040302030504" pitchFamily="66" charset="77"/>
                            <a:cs typeface="Dreaming Outloud Pro" panose="03050502040302030504" pitchFamily="66" charset="77"/>
                          </a:rPr>
                          <a:t> 202</a:t>
                        </a:r>
                        <a:r>
                          <a:rPr lang="en-US" sz="1400" b="1" dirty="0">
                            <a:latin typeface="Dreaming Outloud Pro" panose="03050502040302030504" pitchFamily="66" charset="77"/>
                            <a:cs typeface="Dreaming Outloud Pro" panose="03050502040302030504" pitchFamily="66" charset="77"/>
                          </a:rPr>
                          <a:t>6</a:t>
                        </a:r>
                        <a:r>
                          <a:rPr lang="en-JP" sz="1400" b="1" dirty="0">
                            <a:latin typeface="Dreaming Outloud Pro" panose="03050502040302030504" pitchFamily="66" charset="77"/>
                            <a:cs typeface="Dreaming Outloud Pro" panose="03050502040302030504" pitchFamily="66" charset="77"/>
                          </a:rPr>
                          <a:t> (</a:t>
                        </a:r>
                        <a:r>
                          <a:rPr lang="en-US" sz="1400" b="1" dirty="0">
                            <a:latin typeface="Dreaming Outloud Pro" panose="03050502040302030504" pitchFamily="66" charset="77"/>
                            <a:cs typeface="Dreaming Outloud Pro" panose="03050502040302030504" pitchFamily="66" charset="77"/>
                          </a:rPr>
                          <a:t>Friday</a:t>
                        </a:r>
                        <a:r>
                          <a:rPr lang="en-JP" sz="1400" b="1" dirty="0">
                            <a:latin typeface="Dreaming Outloud Pro" panose="03050502040302030504" pitchFamily="66" charset="77"/>
                            <a:cs typeface="Dreaming Outloud Pro" panose="03050502040302030504" pitchFamily="66" charset="77"/>
                          </a:rPr>
                          <a:t>)</a:t>
                        </a:r>
                      </a:p>
                      <a:p>
                        <a:pPr algn="ctr"/>
                        <a:r>
                          <a:rPr lang="en-US" sz="1400" b="1" dirty="0">
                            <a:latin typeface="Dreaming Outloud Pro" panose="03050502040302030504" pitchFamily="66" charset="77"/>
                            <a:cs typeface="Dreaming Outloud Pro" panose="03050502040302030504" pitchFamily="66" charset="77"/>
                          </a:rPr>
                          <a:t>3</a:t>
                        </a:r>
                        <a:r>
                          <a:rPr lang="en-JP" sz="1400" b="1" dirty="0">
                            <a:latin typeface="Dreaming Outloud Pro" panose="03050502040302030504" pitchFamily="66" charset="77"/>
                            <a:cs typeface="Dreaming Outloud Pro" panose="03050502040302030504" pitchFamily="66" charset="77"/>
                          </a:rPr>
                          <a:t>.</a:t>
                        </a:r>
                        <a:r>
                          <a:rPr lang="en-US" sz="1400" b="1" dirty="0">
                            <a:latin typeface="Dreaming Outloud Pro" panose="03050502040302030504" pitchFamily="66" charset="77"/>
                            <a:cs typeface="Dreaming Outloud Pro" panose="03050502040302030504" pitchFamily="66" charset="77"/>
                          </a:rPr>
                          <a:t>3</a:t>
                        </a:r>
                        <a:r>
                          <a:rPr lang="en-JP" sz="1400" b="1" dirty="0">
                            <a:latin typeface="Dreaming Outloud Pro" panose="03050502040302030504" pitchFamily="66" charset="77"/>
                            <a:cs typeface="Dreaming Outloud Pro" panose="03050502040302030504" pitchFamily="66" charset="77"/>
                          </a:rPr>
                          <a:t>0 – </a:t>
                        </a:r>
                        <a:r>
                          <a:rPr lang="en-US" sz="1400" b="1" dirty="0">
                            <a:latin typeface="Dreaming Outloud Pro" panose="03050502040302030504" pitchFamily="66" charset="77"/>
                            <a:cs typeface="Dreaming Outloud Pro" panose="03050502040302030504" pitchFamily="66" charset="77"/>
                          </a:rPr>
                          <a:t>5</a:t>
                        </a:r>
                        <a:r>
                          <a:rPr lang="en-JP" sz="1400" b="1" dirty="0">
                            <a:latin typeface="Dreaming Outloud Pro" panose="03050502040302030504" pitchFamily="66" charset="77"/>
                            <a:cs typeface="Dreaming Outloud Pro" panose="03050502040302030504" pitchFamily="66" charset="77"/>
                          </a:rPr>
                          <a:t>.</a:t>
                        </a:r>
                        <a:r>
                          <a:rPr lang="en-US" sz="1400" b="1" dirty="0">
                            <a:latin typeface="Dreaming Outloud Pro" panose="03050502040302030504" pitchFamily="66" charset="77"/>
                            <a:cs typeface="Dreaming Outloud Pro" panose="03050502040302030504" pitchFamily="66" charset="77"/>
                          </a:rPr>
                          <a:t>0</a:t>
                        </a:r>
                        <a:r>
                          <a:rPr lang="en-JP" sz="1400" b="1" dirty="0">
                            <a:latin typeface="Dreaming Outloud Pro" panose="03050502040302030504" pitchFamily="66" charset="77"/>
                            <a:cs typeface="Dreaming Outloud Pro" panose="03050502040302030504" pitchFamily="66" charset="77"/>
                          </a:rPr>
                          <a:t>0 pm</a:t>
                        </a:r>
                      </a:p>
                      <a:p>
                        <a:pPr algn="ctr"/>
                        <a:r>
                          <a:rPr lang="en-JP" sz="1400" dirty="0">
                            <a:latin typeface="Dreaming Outloud Pro" panose="03050502040302030504" pitchFamily="66" charset="77"/>
                            <a:cs typeface="Dreaming Outloud Pro" panose="03050502040302030504" pitchFamily="66" charset="77"/>
                          </a:rPr>
                          <a:t>Institute for Protein Research</a:t>
                        </a:r>
                      </a:p>
                      <a:p>
                        <a:pPr algn="ctr"/>
                        <a:r>
                          <a:rPr lang="en-JP" sz="1400" dirty="0">
                            <a:latin typeface="Dreaming Outloud Pro" panose="03050502040302030504" pitchFamily="66" charset="77"/>
                            <a:cs typeface="Dreaming Outloud Pro" panose="03050502040302030504" pitchFamily="66" charset="77"/>
                          </a:rPr>
                          <a:t>University of Osaka (Suita Campus) </a:t>
                        </a:r>
                      </a:p>
                      <a:p>
                        <a:pPr algn="ctr"/>
                        <a:r>
                          <a:rPr lang="en-US" sz="1400" dirty="0">
                            <a:latin typeface="Dreaming Outloud Pro" panose="03050502040302030504" pitchFamily="66" charset="77"/>
                            <a:cs typeface="Dreaming Outloud Pro" panose="03050502040302030504" pitchFamily="66" charset="77"/>
                          </a:rPr>
                          <a:t>4</a:t>
                        </a:r>
                        <a:r>
                          <a:rPr lang="en-US" sz="1400" baseline="30000" dirty="0">
                            <a:latin typeface="Dreaming Outloud Pro" panose="03050502040302030504" pitchFamily="66" charset="77"/>
                            <a:cs typeface="Dreaming Outloud Pro" panose="03050502040302030504" pitchFamily="66" charset="77"/>
                          </a:rPr>
                          <a:t>th</a:t>
                        </a:r>
                        <a:r>
                          <a:rPr lang="en-US" sz="1400" dirty="0">
                            <a:latin typeface="Dreaming Outloud Pro" panose="03050502040302030504" pitchFamily="66" charset="77"/>
                            <a:cs typeface="Dreaming Outloud Pro" panose="03050502040302030504" pitchFamily="66" charset="77"/>
                          </a:rPr>
                          <a:t> floor</a:t>
                        </a:r>
                        <a:r>
                          <a:rPr lang="en-JP" sz="1400" dirty="0">
                            <a:latin typeface="Dreaming Outloud Pro" panose="03050502040302030504" pitchFamily="66" charset="77"/>
                            <a:cs typeface="Dreaming Outloud Pro" panose="03050502040302030504" pitchFamily="66" charset="77"/>
                          </a:rPr>
                          <a:t> </a:t>
                        </a:r>
                        <a:r>
                          <a:rPr lang="en-US" sz="1400" dirty="0">
                            <a:latin typeface="Dreaming Outloud Pro" panose="03050502040302030504" pitchFamily="66" charset="77"/>
                            <a:cs typeface="Dreaming Outloud Pro" panose="03050502040302030504" pitchFamily="66" charset="77"/>
                          </a:rPr>
                          <a:t>Seminar room</a:t>
                        </a:r>
                        <a:endParaRPr kumimoji="0" lang="en-JP" sz="1400" b="1" i="0" u="none" strike="noStrike" kern="1200" cap="none" spc="0" normalizeH="0" baseline="0" noProof="0" dirty="0">
                          <a:ln>
                            <a:noFill/>
                          </a:ln>
                          <a:solidFill>
                            <a:prstClr val="black"/>
                          </a:solidFill>
                          <a:effectLst/>
                          <a:uLnTx/>
                          <a:uFillTx/>
                          <a:latin typeface="Dreaming Outloud Pro" panose="03050502040302030504" pitchFamily="66" charset="77"/>
                          <a:ea typeface="+mn-ea"/>
                          <a:cs typeface="Dreaming Outloud Pro" panose="03050502040302030504" pitchFamily="66" charset="77"/>
                        </a:endParaRPr>
                      </a:p>
                    </p:txBody>
                  </p:sp>
                </p:grpSp>
                <p:sp>
                  <p:nvSpPr>
                    <p:cNvPr id="13" name="TextBox 12">
                      <a:extLst>
                        <a:ext uri="{FF2B5EF4-FFF2-40B4-BE49-F238E27FC236}">
                          <a16:creationId xmlns:a16="http://schemas.microsoft.com/office/drawing/2014/main" id="{54B66881-EEC6-9712-387B-0400F818A4DC}"/>
                        </a:ext>
                      </a:extLst>
                    </p:cNvPr>
                    <p:cNvSpPr txBox="1"/>
                    <p:nvPr/>
                  </p:nvSpPr>
                  <p:spPr>
                    <a:xfrm>
                      <a:off x="4204596" y="6060315"/>
                      <a:ext cx="4004622" cy="738664"/>
                    </a:xfrm>
                    <a:prstGeom prst="rect">
                      <a:avLst/>
                    </a:prstGeom>
                    <a:noFill/>
                  </p:spPr>
                  <p:txBody>
                    <a:bodyPr wrap="none" rtlCol="0">
                      <a:spAutoFit/>
                    </a:bodyPr>
                    <a:lstStyle/>
                    <a:p>
                      <a:r>
                        <a:rPr lang="en-JP" sz="1200" dirty="0">
                          <a:latin typeface="Dreaming Outloud Pro" panose="03050502040302030504" pitchFamily="66" charset="77"/>
                          <a:cs typeface="Dreaming Outloud Pro" panose="03050502040302030504" pitchFamily="66" charset="77"/>
                        </a:rPr>
                        <a:t>Link for online participation via Zoom:</a:t>
                      </a:r>
                      <a:endParaRPr lang="en-US" sz="1200" dirty="0">
                        <a:latin typeface="Dreaming Outloud Pro" panose="03050502040302030504" pitchFamily="66" charset="77"/>
                        <a:cs typeface="Dreaming Outloud Pro" panose="03050502040302030504" pitchFamily="66" charset="77"/>
                      </a:endParaRPr>
                    </a:p>
                    <a:p>
                      <a:r>
                        <a:rPr lang="en-JP" sz="1000" i="1" dirty="0">
                          <a:latin typeface="Dreaming Outloud Pro" panose="03050502040302030504" pitchFamily="66" charset="77"/>
                          <a:cs typeface="Dreaming Outloud Pro" panose="03050502040302030504" pitchFamily="66" charset="77"/>
                        </a:rPr>
                        <a:t>Please inform us if you will be participating online or </a:t>
                      </a:r>
                    </a:p>
                    <a:p>
                      <a:r>
                        <a:rPr lang="en-JP" sz="1000" i="1" dirty="0">
                          <a:latin typeface="Dreaming Outloud Pro" panose="03050502040302030504" pitchFamily="66" charset="77"/>
                          <a:cs typeface="Dreaming Outloud Pro" panose="03050502040302030504" pitchFamily="66" charset="77"/>
                        </a:rPr>
                        <a:t>joining our Slack channel </a:t>
                      </a:r>
                    </a:p>
                    <a:p>
                      <a:r>
                        <a:rPr lang="en-JP" sz="1000" dirty="0">
                          <a:latin typeface="Dreaming Outloud Pro" panose="03050502040302030504" pitchFamily="66" charset="77"/>
                          <a:cs typeface="Dreaming Outloud Pro" panose="03050502040302030504" pitchFamily="66" charset="77"/>
                        </a:rPr>
                        <a:t> </a:t>
                      </a:r>
                      <a:r>
                        <a:rPr lang="en-JP" sz="1000" dirty="0">
                          <a:latin typeface="Dreaming Outloud Pro" panose="03050502040302030504" pitchFamily="66" charset="77"/>
                          <a:cs typeface="Dreaming Outloud Pro" panose="03050502040302030504" pitchFamily="66" charset="77"/>
                          <a:hlinkClick r:id="rId3"/>
                        </a:rPr>
                        <a:t>sandhyatiwari@protein.osaka-u.ac.jp</a:t>
                      </a:r>
                      <a:r>
                        <a:rPr lang="en-JP" sz="1000" dirty="0">
                          <a:latin typeface="Dreaming Outloud Pro" panose="03050502040302030504" pitchFamily="66" charset="77"/>
                          <a:cs typeface="Dreaming Outloud Pro" panose="03050502040302030504" pitchFamily="66" charset="77"/>
                        </a:rPr>
                        <a:t>, </a:t>
                      </a:r>
                      <a:r>
                        <a:rPr lang="en-JP" sz="1000" dirty="0">
                          <a:latin typeface="Dreaming Outloud Pro" panose="03050502040302030504" pitchFamily="66" charset="77"/>
                          <a:cs typeface="Dreaming Outloud Pro" panose="03050502040302030504" pitchFamily="66" charset="77"/>
                          <a:hlinkClick r:id="rId4"/>
                        </a:rPr>
                        <a:t>shinobu.ai.prime@osaka-u.ac.jp</a:t>
                      </a:r>
                      <a:r>
                        <a:rPr lang="en-JP" sz="1000" dirty="0">
                          <a:latin typeface="Dreaming Outloud Pro" panose="03050502040302030504" pitchFamily="66" charset="77"/>
                          <a:cs typeface="Dreaming Outloud Pro" panose="03050502040302030504" pitchFamily="66" charset="77"/>
                        </a:rPr>
                        <a:t> </a:t>
                      </a:r>
                    </a:p>
                  </p:txBody>
                </p:sp>
              </p:grpSp>
              <p:sp>
                <p:nvSpPr>
                  <p:cNvPr id="9" name="TextBox 8">
                    <a:extLst>
                      <a:ext uri="{FF2B5EF4-FFF2-40B4-BE49-F238E27FC236}">
                        <a16:creationId xmlns:a16="http://schemas.microsoft.com/office/drawing/2014/main" id="{8E9B2C59-14F9-A684-3135-C143BDF0E22A}"/>
                      </a:ext>
                    </a:extLst>
                  </p:cNvPr>
                  <p:cNvSpPr txBox="1"/>
                  <p:nvPr/>
                </p:nvSpPr>
                <p:spPr>
                  <a:xfrm>
                    <a:off x="3922286" y="277461"/>
                    <a:ext cx="2691251" cy="523220"/>
                  </a:xfrm>
                  <a:prstGeom prst="rect">
                    <a:avLst/>
                  </a:prstGeom>
                  <a:noFill/>
                </p:spPr>
                <p:txBody>
                  <a:bodyPr wrap="none" rtlCol="0">
                    <a:spAutoFit/>
                  </a:bodyPr>
                  <a:lstStyle/>
                  <a:p>
                    <a:pPr algn="ctr"/>
                    <a:r>
                      <a:rPr lang="en-JP" sz="1400" dirty="0">
                        <a:latin typeface="Avenir Book" panose="02000503020000020003" pitchFamily="2" charset="0"/>
                      </a:rPr>
                      <a:t>An IPR seminar series supported by</a:t>
                    </a:r>
                  </a:p>
                  <a:p>
                    <a:pPr algn="ctr"/>
                    <a:r>
                      <a:rPr lang="en-JP" sz="1400" dirty="0">
                        <a:latin typeface="Avenir Book" panose="02000503020000020003" pitchFamily="2" charset="0"/>
                      </a:rPr>
                      <a:t>WPI-PRIMe and ASPiRE</a:t>
                    </a:r>
                  </a:p>
                </p:txBody>
              </p:sp>
            </p:grpSp>
            <p:sp>
              <p:nvSpPr>
                <p:cNvPr id="28" name="TextBox 27">
                  <a:extLst>
                    <a:ext uri="{FF2B5EF4-FFF2-40B4-BE49-F238E27FC236}">
                      <a16:creationId xmlns:a16="http://schemas.microsoft.com/office/drawing/2014/main" id="{45C004BE-17CC-83F9-B8B8-BD8381845EF7}"/>
                    </a:ext>
                  </a:extLst>
                </p:cNvPr>
                <p:cNvSpPr txBox="1"/>
                <p:nvPr/>
              </p:nvSpPr>
              <p:spPr>
                <a:xfrm>
                  <a:off x="2506246" y="3033035"/>
                  <a:ext cx="6148490" cy="2308324"/>
                </a:xfrm>
                <a:prstGeom prst="rect">
                  <a:avLst/>
                </a:prstGeom>
                <a:noFill/>
              </p:spPr>
              <p:txBody>
                <a:bodyPr wrap="square" rtlCol="0">
                  <a:spAutoFit/>
                </a:bodyPr>
                <a:lstStyle/>
                <a:p>
                  <a:pPr algn="just"/>
                  <a:r>
                    <a:rPr lang="en-US" altLang="ja-JP" sz="1600" b="1" dirty="0"/>
                    <a:t>Untangling Mixed Samples: A Practical Framework for Multiplexed </a:t>
                  </a:r>
                  <a:r>
                    <a:rPr lang="en-US" altLang="ja-JP" sz="1600" b="1" dirty="0" err="1"/>
                    <a:t>scRNA</a:t>
                  </a:r>
                  <a:r>
                    <a:rPr lang="en-US" altLang="ja-JP" sz="1600" b="1" dirty="0"/>
                    <a:t>-seq Experiments</a:t>
                  </a:r>
                  <a:r>
                    <a:rPr lang="en-US" sz="1600" b="1" dirty="0">
                      <a:latin typeface="+mj-lt"/>
                      <a:cs typeface="Arial" panose="020B0604020202020204" pitchFamily="34" charset="0"/>
                    </a:rPr>
                    <a:t> </a:t>
                  </a:r>
                </a:p>
                <a:p>
                  <a:pPr algn="just"/>
                  <a:r>
                    <a:rPr lang="en-US" altLang="ja-JP" sz="1400" dirty="0"/>
                    <a:t>Pooling cells from multiple donors into a single </a:t>
                  </a:r>
                  <a:r>
                    <a:rPr lang="en-US" altLang="ja-JP" sz="1400" dirty="0" err="1"/>
                    <a:t>scRNA</a:t>
                  </a:r>
                  <a:r>
                    <a:rPr lang="en-US" altLang="ja-JP" sz="1400" dirty="0"/>
                    <a:t>-seq experiment is a powerful strategy to increase scale, reduce batch effects, and lower costs. However, success depends critically on "demultiplexing"—accurately assigning each sequenced cell back to its correct donor of origin. Without clear guidelines, researchers often proceed blindly, risking expensive failures and catastrophic data loss. This time, I will talk about this problem and the steps we are taking towards helping in its solution (and how that could potentially help you solve your own entangle).</a:t>
                  </a:r>
                </a:p>
              </p:txBody>
            </p:sp>
            <p:sp>
              <p:nvSpPr>
                <p:cNvPr id="29" name="TextBox 28">
                  <a:extLst>
                    <a:ext uri="{FF2B5EF4-FFF2-40B4-BE49-F238E27FC236}">
                      <a16:creationId xmlns:a16="http://schemas.microsoft.com/office/drawing/2014/main" id="{D7E91050-8CBF-4AD0-D924-FEEDA43C6569}"/>
                    </a:ext>
                  </a:extLst>
                </p:cNvPr>
                <p:cNvSpPr txBox="1"/>
                <p:nvPr/>
              </p:nvSpPr>
              <p:spPr>
                <a:xfrm>
                  <a:off x="4749800" y="1832706"/>
                  <a:ext cx="3840480" cy="800219"/>
                </a:xfrm>
                <a:prstGeom prst="rect">
                  <a:avLst/>
                </a:prstGeom>
                <a:noFill/>
              </p:spPr>
              <p:txBody>
                <a:bodyPr wrap="square" rtlCol="0">
                  <a:spAutoFit/>
                </a:bodyPr>
                <a:lstStyle/>
                <a:p>
                  <a:pPr algn="ctr"/>
                  <a:r>
                    <a:rPr lang="en-US" altLang="ja-JP" b="1" dirty="0"/>
                    <a:t>Rodolfo Sebastian Allendes Osorio</a:t>
                  </a:r>
                  <a:endParaRPr lang="en-JP" sz="1600" b="1" dirty="0"/>
                </a:p>
                <a:p>
                  <a:pPr algn="ctr"/>
                  <a:r>
                    <a:rPr lang="en-US" sz="1400" dirty="0"/>
                    <a:t>Specially-appointed assistant professor, </a:t>
                  </a:r>
                </a:p>
                <a:p>
                  <a:pPr algn="ctr"/>
                  <a:r>
                    <a:rPr lang="en-US" sz="1400" dirty="0"/>
                    <a:t>The University of Osaka, </a:t>
                  </a:r>
                  <a:r>
                    <a:rPr lang="en-US" altLang="ja-JP" sz="1400" dirty="0"/>
                    <a:t>WPI-PRIMe</a:t>
                  </a:r>
                  <a:endParaRPr lang="en-JP" sz="1400" dirty="0"/>
                </a:p>
              </p:txBody>
            </p:sp>
          </p:grpSp>
          <p:pic>
            <p:nvPicPr>
              <p:cNvPr id="2" name="Picture 1" descr="A person standing at a podium with a group of people behind him&#10;&#10;Description automatically generated">
                <a:extLst>
                  <a:ext uri="{FF2B5EF4-FFF2-40B4-BE49-F238E27FC236}">
                    <a16:creationId xmlns:a16="http://schemas.microsoft.com/office/drawing/2014/main" id="{CA69674E-78B6-07E5-009D-41C38B064B0F}"/>
                  </a:ext>
                </a:extLst>
              </p:cNvPr>
              <p:cNvPicPr>
                <a:picLocks noChangeAspect="1"/>
              </p:cNvPicPr>
              <p:nvPr/>
            </p:nvPicPr>
            <p:blipFill>
              <a:blip r:embed="rId5"/>
              <a:stretch>
                <a:fillRect/>
              </a:stretch>
            </p:blipFill>
            <p:spPr>
              <a:xfrm>
                <a:off x="2818837" y="751693"/>
                <a:ext cx="1732543" cy="1732543"/>
              </a:xfrm>
              <a:prstGeom prst="rect">
                <a:avLst/>
              </a:prstGeom>
            </p:spPr>
          </p:pic>
        </p:grpSp>
        <p:pic>
          <p:nvPicPr>
            <p:cNvPr id="7" name="Picture 6">
              <a:extLst>
                <a:ext uri="{FF2B5EF4-FFF2-40B4-BE49-F238E27FC236}">
                  <a16:creationId xmlns:a16="http://schemas.microsoft.com/office/drawing/2014/main" id="{8DADEF97-B9BA-12E5-4EDC-77C7C6052E24}"/>
                </a:ext>
              </a:extLst>
            </p:cNvPr>
            <p:cNvPicPr>
              <a:picLocks noChangeAspect="1"/>
            </p:cNvPicPr>
            <p:nvPr/>
          </p:nvPicPr>
          <p:blipFill>
            <a:blip r:embed="rId6"/>
            <a:stretch>
              <a:fillRect/>
            </a:stretch>
          </p:blipFill>
          <p:spPr>
            <a:xfrm>
              <a:off x="7183074" y="5544031"/>
              <a:ext cx="1125161" cy="1125161"/>
            </a:xfrm>
            <a:prstGeom prst="rect">
              <a:avLst/>
            </a:prstGeom>
          </p:spPr>
        </p:pic>
      </p:grpSp>
    </p:spTree>
    <p:extLst>
      <p:ext uri="{BB962C8B-B14F-4D97-AF65-F5344CB8AC3E}">
        <p14:creationId xmlns:p14="http://schemas.microsoft.com/office/powerpoint/2010/main" val="106517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153D93C-1A63-8B4F-928E-39B249CAE75C}">
  <we:reference id="wa200003220" version="1.0.0.0" store="en-US" storeType="OMEX"/>
  <we:alternateReferences>
    <we:reference id="wa200003220" version="1.0.0.0" store="wa20000322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8D1B2ED-C943-B847-A6D3-D539C08D1999}">
  <we:reference id="wa200002492" version="1.0.0.3" store="en-US" storeType="OMEX"/>
  <we:alternateReferences>
    <we:reference id="wa200002492" version="1.0.0.3" store="wa20000249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54603</TotalTime>
  <Words>222</Words>
  <Application>Microsoft Office PowerPoint</Application>
  <PresentationFormat>Widescreen</PresentationFormat>
  <Paragraphs>19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Avenir Book</vt:lpstr>
      <vt:lpstr>Aptos</vt:lpstr>
      <vt:lpstr>Aptos Display</vt:lpstr>
      <vt:lpstr>Arial</vt:lpstr>
      <vt:lpstr>Dreaming Outloud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Sandhya Tiwari</dc:creator>
  <cp:lastModifiedBy>信夫　愛</cp:lastModifiedBy>
  <cp:revision>60</cp:revision>
  <dcterms:created xsi:type="dcterms:W3CDTF">2024-06-17T07:27:20Z</dcterms:created>
  <dcterms:modified xsi:type="dcterms:W3CDTF">2026-05-15T02:35:42Z</dcterms:modified>
</cp:coreProperties>
</file>